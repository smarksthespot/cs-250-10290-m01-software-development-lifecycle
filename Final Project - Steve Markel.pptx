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65C14-EBE9-48B6-BBA9-34690B243F76}" v="43" dt="2025-10-18T18:23:18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M" userId="f4f0096d1ddb6ced" providerId="LiveId" clId="{D889BAF2-CF8A-47C0-A010-506CB031856C}"/>
    <pc:docChg chg="undo custSel addSld modSld">
      <pc:chgData name="Steven M" userId="f4f0096d1ddb6ced" providerId="LiveId" clId="{D889BAF2-CF8A-47C0-A010-506CB031856C}" dt="2025-10-18T18:27:54.313" v="3225" actId="20577"/>
      <pc:docMkLst>
        <pc:docMk/>
      </pc:docMkLst>
      <pc:sldChg chg="modSp mod">
        <pc:chgData name="Steven M" userId="f4f0096d1ddb6ced" providerId="LiveId" clId="{D889BAF2-CF8A-47C0-A010-506CB031856C}" dt="2025-10-18T17:34:06.895" v="24" actId="20577"/>
        <pc:sldMkLst>
          <pc:docMk/>
          <pc:sldMk cId="747233594" sldId="256"/>
        </pc:sldMkLst>
        <pc:spChg chg="mod">
          <ac:chgData name="Steven M" userId="f4f0096d1ddb6ced" providerId="LiveId" clId="{D889BAF2-CF8A-47C0-A010-506CB031856C}" dt="2025-10-18T17:14:19.725" v="3" actId="27636"/>
          <ac:spMkLst>
            <pc:docMk/>
            <pc:sldMk cId="747233594" sldId="256"/>
            <ac:spMk id="2" creationId="{BD0FDF5E-A82C-2A69-8801-31D084B3A5FE}"/>
          </ac:spMkLst>
        </pc:spChg>
        <pc:spChg chg="mod">
          <ac:chgData name="Steven M" userId="f4f0096d1ddb6ced" providerId="LiveId" clId="{D889BAF2-CF8A-47C0-A010-506CB031856C}" dt="2025-10-18T17:34:06.895" v="24" actId="20577"/>
          <ac:spMkLst>
            <pc:docMk/>
            <pc:sldMk cId="747233594" sldId="256"/>
            <ac:spMk id="3" creationId="{2E8F791D-E46B-40E7-2761-1E2AC44D84AD}"/>
          </ac:spMkLst>
        </pc:spChg>
      </pc:sldChg>
      <pc:sldChg chg="addSp modSp new mod">
        <pc:chgData name="Steven M" userId="f4f0096d1ddb6ced" providerId="LiveId" clId="{D889BAF2-CF8A-47C0-A010-506CB031856C}" dt="2025-10-18T18:19:08.674" v="2212" actId="20577"/>
        <pc:sldMkLst>
          <pc:docMk/>
          <pc:sldMk cId="3702659547" sldId="257"/>
        </pc:sldMkLst>
        <pc:spChg chg="mod">
          <ac:chgData name="Steven M" userId="f4f0096d1ddb6ced" providerId="LiveId" clId="{D889BAF2-CF8A-47C0-A010-506CB031856C}" dt="2025-10-18T18:03:08.742" v="1027"/>
          <ac:spMkLst>
            <pc:docMk/>
            <pc:sldMk cId="3702659547" sldId="257"/>
            <ac:spMk id="2" creationId="{22947C16-F89C-F249-4DB3-C108FE9BDD22}"/>
          </ac:spMkLst>
        </pc:spChg>
        <pc:spChg chg="mod">
          <ac:chgData name="Steven M" userId="f4f0096d1ddb6ced" providerId="LiveId" clId="{D889BAF2-CF8A-47C0-A010-506CB031856C}" dt="2025-10-18T18:19:08.674" v="2212" actId="20577"/>
          <ac:spMkLst>
            <pc:docMk/>
            <pc:sldMk cId="3702659547" sldId="257"/>
            <ac:spMk id="3" creationId="{42E3B196-1C2C-25F2-8459-175C26957E3B}"/>
          </ac:spMkLst>
        </pc:spChg>
        <pc:spChg chg="add">
          <ac:chgData name="Steven M" userId="f4f0096d1ddb6ced" providerId="LiveId" clId="{D889BAF2-CF8A-47C0-A010-506CB031856C}" dt="2025-10-18T17:38:40.285" v="182"/>
          <ac:spMkLst>
            <pc:docMk/>
            <pc:sldMk cId="3702659547" sldId="257"/>
            <ac:spMk id="4" creationId="{E22EC429-D362-FAFA-4198-827C0903482C}"/>
          </ac:spMkLst>
        </pc:spChg>
        <pc:spChg chg="add">
          <ac:chgData name="Steven M" userId="f4f0096d1ddb6ced" providerId="LiveId" clId="{D889BAF2-CF8A-47C0-A010-506CB031856C}" dt="2025-10-18T17:38:43.522" v="183"/>
          <ac:spMkLst>
            <pc:docMk/>
            <pc:sldMk cId="3702659547" sldId="257"/>
            <ac:spMk id="5" creationId="{26A50477-A4B7-1688-60FC-B9B2D9B56BEB}"/>
          </ac:spMkLst>
        </pc:spChg>
        <pc:spChg chg="add">
          <ac:chgData name="Steven M" userId="f4f0096d1ddb6ced" providerId="LiveId" clId="{D889BAF2-CF8A-47C0-A010-506CB031856C}" dt="2025-10-18T17:38:53.782" v="185"/>
          <ac:spMkLst>
            <pc:docMk/>
            <pc:sldMk cId="3702659547" sldId="257"/>
            <ac:spMk id="6" creationId="{131E2117-A28E-0FFC-DE4E-9C6931BE11EC}"/>
          </ac:spMkLst>
        </pc:spChg>
      </pc:sldChg>
      <pc:sldChg chg="addSp delSp modSp new mod">
        <pc:chgData name="Steven M" userId="f4f0096d1ddb6ced" providerId="LiveId" clId="{D889BAF2-CF8A-47C0-A010-506CB031856C}" dt="2025-10-18T18:03:21.229" v="1028"/>
        <pc:sldMkLst>
          <pc:docMk/>
          <pc:sldMk cId="3199544465" sldId="258"/>
        </pc:sldMkLst>
        <pc:spChg chg="mod">
          <ac:chgData name="Steven M" userId="f4f0096d1ddb6ced" providerId="LiveId" clId="{D889BAF2-CF8A-47C0-A010-506CB031856C}" dt="2025-10-18T18:03:21.229" v="1028"/>
          <ac:spMkLst>
            <pc:docMk/>
            <pc:sldMk cId="3199544465" sldId="258"/>
            <ac:spMk id="2" creationId="{9B2FD876-FBDA-A8F1-88E9-2D9524E7ABF5}"/>
          </ac:spMkLst>
        </pc:spChg>
        <pc:spChg chg="mod">
          <ac:chgData name="Steven M" userId="f4f0096d1ddb6ced" providerId="LiveId" clId="{D889BAF2-CF8A-47C0-A010-506CB031856C}" dt="2025-10-18T17:57:09.672" v="1005" actId="20577"/>
          <ac:spMkLst>
            <pc:docMk/>
            <pc:sldMk cId="3199544465" sldId="258"/>
            <ac:spMk id="3" creationId="{0231040D-39FD-E583-13F1-E157BBD92DED}"/>
          </ac:spMkLst>
        </pc:spChg>
        <pc:spChg chg="add del">
          <ac:chgData name="Steven M" userId="f4f0096d1ddb6ced" providerId="LiveId" clId="{D889BAF2-CF8A-47C0-A010-506CB031856C}" dt="2025-10-18T17:44:37.547" v="256" actId="22"/>
          <ac:spMkLst>
            <pc:docMk/>
            <pc:sldMk cId="3199544465" sldId="258"/>
            <ac:spMk id="5" creationId="{D59325DA-F07D-56CF-D9F9-CE87A6CD8406}"/>
          </ac:spMkLst>
        </pc:spChg>
      </pc:sldChg>
      <pc:sldChg chg="addSp modSp new mod">
        <pc:chgData name="Steven M" userId="f4f0096d1ddb6ced" providerId="LiveId" clId="{D889BAF2-CF8A-47C0-A010-506CB031856C}" dt="2025-10-18T18:22:45.944" v="2707" actId="20577"/>
        <pc:sldMkLst>
          <pc:docMk/>
          <pc:sldMk cId="1759414767" sldId="259"/>
        </pc:sldMkLst>
        <pc:spChg chg="mod">
          <ac:chgData name="Steven M" userId="f4f0096d1ddb6ced" providerId="LiveId" clId="{D889BAF2-CF8A-47C0-A010-506CB031856C}" dt="2025-10-18T18:03:43.640" v="1029"/>
          <ac:spMkLst>
            <pc:docMk/>
            <pc:sldMk cId="1759414767" sldId="259"/>
            <ac:spMk id="2" creationId="{4EBA7095-6D84-DE62-D77E-A2089C539753}"/>
          </ac:spMkLst>
        </pc:spChg>
        <pc:spChg chg="mod">
          <ac:chgData name="Steven M" userId="f4f0096d1ddb6ced" providerId="LiveId" clId="{D889BAF2-CF8A-47C0-A010-506CB031856C}" dt="2025-10-18T18:09:15.426" v="1425" actId="20577"/>
          <ac:spMkLst>
            <pc:docMk/>
            <pc:sldMk cId="1759414767" sldId="259"/>
            <ac:spMk id="3" creationId="{1FF94448-0078-239F-7205-A9623A0CC1F4}"/>
          </ac:spMkLst>
        </pc:spChg>
        <pc:spChg chg="add">
          <ac:chgData name="Steven M" userId="f4f0096d1ddb6ced" providerId="LiveId" clId="{D889BAF2-CF8A-47C0-A010-506CB031856C}" dt="2025-10-18T18:08:23.731" v="1413"/>
          <ac:spMkLst>
            <pc:docMk/>
            <pc:sldMk cId="1759414767" sldId="259"/>
            <ac:spMk id="4" creationId="{A3642FC6-5136-5864-0F26-28BB205A2827}"/>
          </ac:spMkLst>
        </pc:spChg>
        <pc:spChg chg="add mod">
          <ac:chgData name="Steven M" userId="f4f0096d1ddb6ced" providerId="LiveId" clId="{D889BAF2-CF8A-47C0-A010-506CB031856C}" dt="2025-10-18T18:22:45.944" v="2707" actId="20577"/>
          <ac:spMkLst>
            <pc:docMk/>
            <pc:sldMk cId="1759414767" sldId="259"/>
            <ac:spMk id="5" creationId="{6E65835B-1808-3F4C-C884-0D9864F70B8D}"/>
          </ac:spMkLst>
        </pc:spChg>
      </pc:sldChg>
      <pc:sldChg chg="addSp modSp new mod">
        <pc:chgData name="Steven M" userId="f4f0096d1ddb6ced" providerId="LiveId" clId="{D889BAF2-CF8A-47C0-A010-506CB031856C}" dt="2025-10-18T18:10:39.427" v="1431"/>
        <pc:sldMkLst>
          <pc:docMk/>
          <pc:sldMk cId="1900090971" sldId="260"/>
        </pc:sldMkLst>
        <pc:spChg chg="mod">
          <ac:chgData name="Steven M" userId="f4f0096d1ddb6ced" providerId="LiveId" clId="{D889BAF2-CF8A-47C0-A010-506CB031856C}" dt="2025-10-18T17:57:42.028" v="1017" actId="20577"/>
          <ac:spMkLst>
            <pc:docMk/>
            <pc:sldMk cId="1900090971" sldId="260"/>
            <ac:spMk id="2" creationId="{866CBE55-3419-40A5-237E-6EB7719CC3E4}"/>
          </ac:spMkLst>
        </pc:spChg>
        <pc:spChg chg="mod">
          <ac:chgData name="Steven M" userId="f4f0096d1ddb6ced" providerId="LiveId" clId="{D889BAF2-CF8A-47C0-A010-506CB031856C}" dt="2025-10-18T18:10:39.427" v="1431"/>
          <ac:spMkLst>
            <pc:docMk/>
            <pc:sldMk cId="1900090971" sldId="260"/>
            <ac:spMk id="3" creationId="{21EFC0F3-F495-0DBA-D56F-190F441150ED}"/>
          </ac:spMkLst>
        </pc:spChg>
        <pc:spChg chg="add">
          <ac:chgData name="Steven M" userId="f4f0096d1ddb6ced" providerId="LiveId" clId="{D889BAF2-CF8A-47C0-A010-506CB031856C}" dt="2025-10-18T17:58:16.774" v="1020"/>
          <ac:spMkLst>
            <pc:docMk/>
            <pc:sldMk cId="1900090971" sldId="260"/>
            <ac:spMk id="4" creationId="{73DEC6E3-ECDC-2CE0-5A48-DE1B6F683C0B}"/>
          </ac:spMkLst>
        </pc:spChg>
        <pc:spChg chg="add">
          <ac:chgData name="Steven M" userId="f4f0096d1ddb6ced" providerId="LiveId" clId="{D889BAF2-CF8A-47C0-A010-506CB031856C}" dt="2025-10-18T17:58:21.656" v="1022"/>
          <ac:spMkLst>
            <pc:docMk/>
            <pc:sldMk cId="1900090971" sldId="260"/>
            <ac:spMk id="5" creationId="{3CA2D98D-0A15-5639-2784-502C46058C6A}"/>
          </ac:spMkLst>
        </pc:spChg>
        <pc:spChg chg="add">
          <ac:chgData name="Steven M" userId="f4f0096d1ddb6ced" providerId="LiveId" clId="{D889BAF2-CF8A-47C0-A010-506CB031856C}" dt="2025-10-18T18:10:30.791" v="1427"/>
          <ac:spMkLst>
            <pc:docMk/>
            <pc:sldMk cId="1900090971" sldId="260"/>
            <ac:spMk id="6" creationId="{C73233CF-8AAA-C27B-3768-3E3E6E2EF225}"/>
          </ac:spMkLst>
        </pc:spChg>
      </pc:sldChg>
      <pc:sldChg chg="addSp delSp modSp new mod">
        <pc:chgData name="Steven M" userId="f4f0096d1ddb6ced" providerId="LiveId" clId="{D889BAF2-CF8A-47C0-A010-506CB031856C}" dt="2025-10-18T18:23:08.535" v="2712" actId="20577"/>
        <pc:sldMkLst>
          <pc:docMk/>
          <pc:sldMk cId="59415490" sldId="261"/>
        </pc:sldMkLst>
        <pc:spChg chg="mod">
          <ac:chgData name="Steven M" userId="f4f0096d1ddb6ced" providerId="LiveId" clId="{D889BAF2-CF8A-47C0-A010-506CB031856C}" dt="2025-10-18T18:11:22.721" v="1433"/>
          <ac:spMkLst>
            <pc:docMk/>
            <pc:sldMk cId="59415490" sldId="261"/>
            <ac:spMk id="2" creationId="{F52FE0AE-E3D5-034A-70E2-A6A2EB64313D}"/>
          </ac:spMkLst>
        </pc:spChg>
        <pc:spChg chg="del">
          <ac:chgData name="Steven M" userId="f4f0096d1ddb6ced" providerId="LiveId" clId="{D889BAF2-CF8A-47C0-A010-506CB031856C}" dt="2025-10-18T18:11:50.462" v="1434" actId="3680"/>
          <ac:spMkLst>
            <pc:docMk/>
            <pc:sldMk cId="59415490" sldId="261"/>
            <ac:spMk id="3" creationId="{71180A74-D1B1-CB39-B237-BF07F2123DCE}"/>
          </ac:spMkLst>
        </pc:spChg>
        <pc:spChg chg="add mod">
          <ac:chgData name="Steven M" userId="f4f0096d1ddb6ced" providerId="LiveId" clId="{D889BAF2-CF8A-47C0-A010-506CB031856C}" dt="2025-10-18T18:23:08.535" v="2712" actId="20577"/>
          <ac:spMkLst>
            <pc:docMk/>
            <pc:sldMk cId="59415490" sldId="261"/>
            <ac:spMk id="5" creationId="{20D0B54F-5EAA-6165-09E6-2E07160E4193}"/>
          </ac:spMkLst>
        </pc:spChg>
        <pc:graphicFrameChg chg="add mod ord modGraphic">
          <ac:chgData name="Steven M" userId="f4f0096d1ddb6ced" providerId="LiveId" clId="{D889BAF2-CF8A-47C0-A010-506CB031856C}" dt="2025-10-18T18:15:24.417" v="1797" actId="20577"/>
          <ac:graphicFrameMkLst>
            <pc:docMk/>
            <pc:sldMk cId="59415490" sldId="261"/>
            <ac:graphicFrameMk id="4" creationId="{40C6B3AA-11BA-AA0B-5302-8B9C4280D3CB}"/>
          </ac:graphicFrameMkLst>
        </pc:graphicFrameChg>
      </pc:sldChg>
      <pc:sldChg chg="modSp new mod">
        <pc:chgData name="Steven M" userId="f4f0096d1ddb6ced" providerId="LiveId" clId="{D889BAF2-CF8A-47C0-A010-506CB031856C}" dt="2025-10-18T18:27:54.313" v="3225" actId="20577"/>
        <pc:sldMkLst>
          <pc:docMk/>
          <pc:sldMk cId="1662380528" sldId="262"/>
        </pc:sldMkLst>
        <pc:spChg chg="mod">
          <ac:chgData name="Steven M" userId="f4f0096d1ddb6ced" providerId="LiveId" clId="{D889BAF2-CF8A-47C0-A010-506CB031856C}" dt="2025-10-18T18:23:18.931" v="2714"/>
          <ac:spMkLst>
            <pc:docMk/>
            <pc:sldMk cId="1662380528" sldId="262"/>
            <ac:spMk id="2" creationId="{8176DAC8-C524-732D-7D7B-19D6CF33EC3B}"/>
          </ac:spMkLst>
        </pc:spChg>
        <pc:spChg chg="mod">
          <ac:chgData name="Steven M" userId="f4f0096d1ddb6ced" providerId="LiveId" clId="{D889BAF2-CF8A-47C0-A010-506CB031856C}" dt="2025-10-18T18:27:54.313" v="3225" actId="20577"/>
          <ac:spMkLst>
            <pc:docMk/>
            <pc:sldMk cId="1662380528" sldId="262"/>
            <ac:spMk id="3" creationId="{A477E22C-ED69-54CF-6C22-DAA98CF2E7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DA3BA-C8CF-E6B1-496E-A8D94691C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10B67-8756-639D-45BC-C828EBF07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EC40A-AD63-C9F4-DAE7-8CF58AAF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9EEC9-EEEF-65EB-33B5-CE1E39B4D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FEA6-D3B2-4A3E-1A89-F151AA42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B729-8636-A477-E95B-D010C122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A3655-1784-C3B6-EF45-E492E1097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AF3B0-6703-B4C7-5CE5-EED05F4C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F468-A6F8-94B8-0AF8-8B0624B7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43112-8AD6-2AF9-7A15-118A236E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46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57E1-2544-9F68-AD22-A3C769D1D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16581-A0C9-4242-B9B7-98288D94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95A1D-AA15-34AC-4AEC-C2A1AE06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65FF6-E977-16FB-E442-94E51D71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35D4D-E0BD-AFE7-2CC5-A7F19842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0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BD70-D6B0-326D-CDB7-E488E344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7B61D-036B-C61E-5E64-BB903CE6E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F558-AF1F-12B4-A6DD-D5958AB37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78A91-EB36-446F-DB5E-0B618DF1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9E45F-8B0F-4581-B5A0-020BF95B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BD57A-E1F8-5F94-1629-62AA23B7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8BDB-6164-862C-9AB0-D93899DA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54349-3E94-DECE-9E9C-E73806295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0BA4B-D08E-9F14-A734-D1BDDAEA3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E2DE8-9AF5-4E83-AD97-F233AFBE6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F6FA5-D645-C21A-0F5C-E626D40A8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62C07-01FB-6A51-EAE1-2FC16F9B4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CFF3E-0648-1E3F-7226-B186BDB0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8ED13-26ED-3C55-51E0-AE615F0E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785B-23EC-087A-BF20-5067B740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3C1CF-4FCC-8766-CBA8-957FEB7F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D3749-7DB0-ED40-0194-5C8B94B57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090C8-92AB-3248-7798-B4AB7B3E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44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88C48-9214-ED2D-E05A-E5CA19B72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1CF6F-3018-F34E-CE6C-CC5DDB020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83F64-17DA-83E5-8550-140F3F47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4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6C96-9847-68E6-574E-4E50A555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8F21-B24D-D5A6-A4AE-4E547212B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13C3F-F84F-D0E4-4AA8-3675A769B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FEC52-74BE-038F-BCF2-F9771648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926A8-DBB7-D9E9-8DE8-4E9A84310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5D098-BF75-B784-FDB4-ECA58444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2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663E-9F47-859E-9757-EA79CF699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2CF70-EBD8-5567-DC62-74FBDAAC7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F5D30-8746-2DD0-3823-C6A0BCDBB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5C6C3-A384-939C-B2A5-EDF4E401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66DFB-BD4F-89FE-B89A-32A0F9DE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DF8D9-AD8B-24A8-B221-C2E961C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63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2A04-1723-7A6A-4215-91B33918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F0C83E-12C7-ECAD-C4D9-C4D57E74C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B9D09-D9C2-CC43-539C-ECB8F9CF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1B75C-3577-B75E-30EB-B675AC67E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6880C-411F-D3BC-F771-904A3C61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4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8CA63-55F5-F88C-6A67-6659DCD4E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9250C-FCA5-D795-59A0-7114FE9FF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EF64A-9855-6F75-2978-6CC88FEA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B0052-9F3D-49E3-926E-9D1580A50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792F-4E4B-8637-DFAD-13D0F85CF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4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2792CA-094B-99DE-BE38-8DBC5FB76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03E96-F780-5EB8-BF81-6EB8FE4F3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CFA9-A49E-352F-6129-01CB1F9D2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2D505-D19F-4FDD-9EF6-6F9F9CB7C87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87603-37F8-53AB-8A17-FB422821D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A636A-D32E-3C59-6A96-FBFA35824F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20328-1E47-4583-94D4-A6AC65B0F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1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agile-sdlc-software-development-life-cycle/" TargetMode="External"/><Relationship Id="rId2" Type="http://schemas.openxmlformats.org/officeDocument/2006/relationships/hyperlink" Target="https://resources.scrumalliance.org/Article/scrum-tea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FDF5E-A82C-2A69-8801-31D084B3A5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Agile vs. Waterfall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F791D-E46B-40E7-2761-1E2AC44D84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Lessons from the SNHU Travel Project</a:t>
            </a:r>
          </a:p>
          <a:p>
            <a:r>
              <a:rPr lang="en-US" sz="1600" b="1" dirty="0"/>
              <a:t>By Steve Markel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4723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7C16-F89C-F249-4DB3-C108FE9B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Scrum-Agile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3B196-1C2C-25F2-8459-175C26957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Scrum Master </a:t>
            </a:r>
            <a:r>
              <a:rPr lang="en-US" dirty="0"/>
              <a:t>– </a:t>
            </a:r>
            <a:r>
              <a:rPr lang="en-US" sz="1400" dirty="0"/>
              <a:t>Facilitates Scrum events, removes blockers, fosters collaboration between the team</a:t>
            </a:r>
          </a:p>
          <a:p>
            <a:r>
              <a:rPr lang="en-US" sz="2400" dirty="0"/>
              <a:t>Product Owner </a:t>
            </a:r>
            <a:r>
              <a:rPr lang="en-US" dirty="0"/>
              <a:t>– </a:t>
            </a:r>
            <a:r>
              <a:rPr lang="en-US" sz="1400" dirty="0"/>
              <a:t>Prioritizes backlog, engages stakeholders, defines user stories and acceptance criteria</a:t>
            </a:r>
          </a:p>
          <a:p>
            <a:r>
              <a:rPr lang="en-US" sz="2400" dirty="0"/>
              <a:t>Developer – </a:t>
            </a:r>
            <a:r>
              <a:rPr lang="en-US" sz="1400" dirty="0"/>
              <a:t>Builds incremental code base, adapts to feedback give from Product Owner, ensures quality</a:t>
            </a:r>
          </a:p>
          <a:p>
            <a:r>
              <a:rPr lang="en-US" sz="2400" dirty="0"/>
              <a:t>Tester – </a:t>
            </a:r>
            <a:r>
              <a:rPr lang="en-US" sz="1400" dirty="0"/>
              <a:t>Designs and executes test cases, validates acceptance criteria, ensures error handling and user experience</a:t>
            </a:r>
          </a:p>
          <a:p>
            <a:r>
              <a:rPr lang="en-US" sz="2400" dirty="0"/>
              <a:t>Stakeholder </a:t>
            </a:r>
            <a:r>
              <a:rPr lang="en-US" dirty="0"/>
              <a:t>– </a:t>
            </a:r>
            <a:r>
              <a:rPr lang="en-US" sz="1400" dirty="0"/>
              <a:t>Provide feedback, validate features, shapes product vision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In our SNHU Travel project, these roles worked together to deliver a well-tested, functional, user-focused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02659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D876-FBDA-A8F1-88E9-2D9524E7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in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1040D-39FD-E583-13F1-E157BBD92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Agile process is a big circle that repeats itself over and over with the following phases</a:t>
            </a:r>
          </a:p>
          <a:p>
            <a:r>
              <a:rPr lang="en-US" sz="2400" dirty="0"/>
              <a:t>Plan</a:t>
            </a:r>
            <a:r>
              <a:rPr lang="en-US" dirty="0"/>
              <a:t> – </a:t>
            </a:r>
            <a:r>
              <a:rPr lang="en-US" sz="1400" dirty="0"/>
              <a:t>Gather requirements via stakeholders and users</a:t>
            </a:r>
          </a:p>
          <a:p>
            <a:r>
              <a:rPr lang="en-US" sz="2400" dirty="0"/>
              <a:t>Design</a:t>
            </a:r>
            <a:r>
              <a:rPr lang="en-US" dirty="0"/>
              <a:t> – </a:t>
            </a:r>
            <a:r>
              <a:rPr lang="en-US" sz="1400" dirty="0"/>
              <a:t>Creating user stories, wireframes or prototypes</a:t>
            </a:r>
          </a:p>
          <a:p>
            <a:r>
              <a:rPr lang="en-US" sz="2400" dirty="0"/>
              <a:t>Coding</a:t>
            </a:r>
            <a:r>
              <a:rPr lang="en-US" dirty="0"/>
              <a:t> – </a:t>
            </a:r>
            <a:r>
              <a:rPr lang="en-US" sz="1400" dirty="0"/>
              <a:t>Small iterative code is written for each user story</a:t>
            </a:r>
          </a:p>
          <a:p>
            <a:r>
              <a:rPr lang="en-US" sz="2400" dirty="0"/>
              <a:t>Test</a:t>
            </a:r>
            <a:r>
              <a:rPr lang="en-US" dirty="0"/>
              <a:t> – </a:t>
            </a:r>
            <a:r>
              <a:rPr lang="en-US" sz="1400" dirty="0"/>
              <a:t>Unit test, UAT testing and integration tests are written and preformed</a:t>
            </a:r>
          </a:p>
          <a:p>
            <a:r>
              <a:rPr lang="en-US" sz="2400" dirty="0"/>
              <a:t>Deploy</a:t>
            </a:r>
            <a:r>
              <a:rPr lang="en-US" dirty="0"/>
              <a:t> – </a:t>
            </a:r>
            <a:r>
              <a:rPr lang="en-US" sz="1400" dirty="0"/>
              <a:t>The small iterative code is released</a:t>
            </a:r>
          </a:p>
          <a:p>
            <a:r>
              <a:rPr lang="en-US" sz="2400" dirty="0"/>
              <a:t>Review</a:t>
            </a:r>
            <a:r>
              <a:rPr lang="en-US" dirty="0"/>
              <a:t> – </a:t>
            </a:r>
            <a:r>
              <a:rPr lang="en-US" sz="1400" dirty="0"/>
              <a:t>Users and stakeholders review the new release, make comments</a:t>
            </a:r>
          </a:p>
          <a:p>
            <a:pPr marL="0" indent="0" algn="ctr">
              <a:buNone/>
            </a:pPr>
            <a:r>
              <a:rPr lang="en-US" sz="2400" dirty="0"/>
              <a:t>Like shampoo, rinse and repeat</a:t>
            </a:r>
          </a:p>
        </p:txBody>
      </p:sp>
    </p:spTree>
    <p:extLst>
      <p:ext uri="{BB962C8B-B14F-4D97-AF65-F5344CB8AC3E}">
        <p14:creationId xmlns:p14="http://schemas.microsoft.com/office/powerpoint/2010/main" val="319954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7095-6D84-DE62-D77E-A2089C53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4448-0078-239F-7205-A9623A0C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waterfall process is very different than Agile. Waterfall is …</a:t>
            </a:r>
          </a:p>
          <a:p>
            <a:endParaRPr lang="en-US" sz="2400" dirty="0"/>
          </a:p>
          <a:p>
            <a:r>
              <a:rPr lang="en-US" sz="2400" dirty="0"/>
              <a:t>A linear process – </a:t>
            </a:r>
            <a:r>
              <a:rPr lang="en-US" sz="1400" dirty="0"/>
              <a:t>Waterfall happens in this order – Requirements – Design – Development – Testing – Deployment. There is no Rinse and Repeat with waterfall</a:t>
            </a:r>
          </a:p>
          <a:p>
            <a:r>
              <a:rPr lang="en-US" sz="2400" dirty="0"/>
              <a:t>Rigid Structure – </a:t>
            </a:r>
            <a:r>
              <a:rPr lang="en-US" sz="1400" dirty="0"/>
              <a:t>Each phase must be completed before moving to the next</a:t>
            </a:r>
          </a:p>
          <a:p>
            <a:r>
              <a:rPr lang="en-US" sz="2400" dirty="0"/>
              <a:t>Delayed feedback - </a:t>
            </a:r>
            <a:r>
              <a:rPr lang="en-US" sz="1400" dirty="0"/>
              <a:t>Stakeholders see results only at the end</a:t>
            </a:r>
          </a:p>
          <a:p>
            <a:r>
              <a:rPr lang="en-US" sz="2400" dirty="0"/>
              <a:t>Change and Adjustments - </a:t>
            </a:r>
            <a:r>
              <a:rPr lang="en-US" sz="1400" dirty="0"/>
              <a:t>Costly and disruptive once design is finalized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3642FC6-5136-5864-0F26-28BB205A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Costly and disruptive once design is finalized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5835B-1808-3F4C-C884-0D9864F70B8D}"/>
              </a:ext>
            </a:extLst>
          </p:cNvPr>
          <p:cNvSpPr txBox="1"/>
          <p:nvPr/>
        </p:nvSpPr>
        <p:spPr>
          <a:xfrm>
            <a:off x="838200" y="4957978"/>
            <a:ext cx="105895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Waterfall, the SNHU Travel Project would have followed a strict structure. Requirements would be locked in at the very beginning, and the design documents would be the guidance for the project. If the stakeholders wanted a change, the whole process would have to start over. Testing only occurs once all the code is written, and if a defect or bug is found (which they often are) it is costly and time consuming to fix them.</a:t>
            </a:r>
          </a:p>
        </p:txBody>
      </p:sp>
    </p:spTree>
    <p:extLst>
      <p:ext uri="{BB962C8B-B14F-4D97-AF65-F5344CB8AC3E}">
        <p14:creationId xmlns:p14="http://schemas.microsoft.com/office/powerpoint/2010/main" val="175941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FE0AE-E3D5-034A-70E2-A6A2EB64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Development Approaches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C6B3AA-11BA-AA0B-5302-8B9C4280D3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047427"/>
              </p:ext>
            </p:extLst>
          </p:nvPr>
        </p:nvGraphicFramePr>
        <p:xfrm>
          <a:off x="838200" y="1825625"/>
          <a:ext cx="1051559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90508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483460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2709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Waterfall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348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Linear and sequential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Iterative and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45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Stakeholder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 in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Early and continuous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065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Difficult and costly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Flexibility built 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4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 phase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Ongoing during the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037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of 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due to incremental delivery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80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0D0B54F-5EAA-6165-09E6-2E07160E4193}"/>
              </a:ext>
            </a:extLst>
          </p:cNvPr>
          <p:cNvSpPr txBox="1"/>
          <p:nvPr/>
        </p:nvSpPr>
        <p:spPr>
          <a:xfrm>
            <a:off x="838200" y="4365226"/>
            <a:ext cx="10515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waterfall, shifting from all travel destinations to Detox/Wellness destinations would have cause major delays, rework and cost. Agile allowed us to easily pivot to provide what the stakeholders wanted.</a:t>
            </a:r>
          </a:p>
        </p:txBody>
      </p:sp>
    </p:spTree>
    <p:extLst>
      <p:ext uri="{BB962C8B-B14F-4D97-AF65-F5344CB8AC3E}">
        <p14:creationId xmlns:p14="http://schemas.microsoft.com/office/powerpoint/2010/main" val="5941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DAC8-C524-732D-7D7B-19D6CF33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Waterfall or Agile?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E22C-ED69-54CF-6C22-DAA98CF2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 should you use waterfall verse Agile?</a:t>
            </a:r>
          </a:p>
          <a:p>
            <a:r>
              <a:rPr lang="en-US" dirty="0"/>
              <a:t>Waterfall</a:t>
            </a:r>
          </a:p>
          <a:p>
            <a:pPr lvl="1"/>
            <a:r>
              <a:rPr lang="en-US" sz="1800" dirty="0"/>
              <a:t>Requirements are fixed</a:t>
            </a:r>
          </a:p>
          <a:p>
            <a:pPr lvl="1"/>
            <a:r>
              <a:rPr lang="en-US" sz="1800" dirty="0"/>
              <a:t>Stakeholders have minimal involvement</a:t>
            </a:r>
          </a:p>
          <a:p>
            <a:pPr lvl="1"/>
            <a:r>
              <a:rPr lang="en-US" sz="1800" dirty="0"/>
              <a:t>The scope of the project is well defined</a:t>
            </a:r>
          </a:p>
          <a:p>
            <a:r>
              <a:rPr lang="en-US" dirty="0"/>
              <a:t>Agile</a:t>
            </a:r>
          </a:p>
          <a:p>
            <a:pPr lvl="1"/>
            <a:r>
              <a:rPr lang="en-US" sz="1800" dirty="0"/>
              <a:t>Evolving requirements</a:t>
            </a:r>
          </a:p>
          <a:p>
            <a:pPr lvl="1"/>
            <a:r>
              <a:rPr lang="en-US" sz="1800" dirty="0"/>
              <a:t>User and stakeholder feedback is critical</a:t>
            </a:r>
          </a:p>
          <a:p>
            <a:pPr lvl="1"/>
            <a:r>
              <a:rPr lang="en-US" sz="1800" dirty="0"/>
              <a:t>Flexibility and quick release are priorities</a:t>
            </a:r>
          </a:p>
          <a:p>
            <a:pPr marL="0" indent="0">
              <a:buNone/>
            </a:pPr>
            <a:r>
              <a:rPr lang="en-US" sz="2200" dirty="0"/>
              <a:t>The SNHU Travel Project excelled in Agile because the involvement of the stakeholder and users, its changing scope and </a:t>
            </a:r>
            <a:r>
              <a:rPr lang="en-US" sz="2200"/>
              <a:t>team collaboration.</a:t>
            </a:r>
            <a:endParaRPr lang="en-US" sz="2200" dirty="0"/>
          </a:p>
          <a:p>
            <a:pPr marL="457200" lvl="1" indent="0">
              <a:buNone/>
            </a:pPr>
            <a:r>
              <a:rPr lang="en-US" sz="18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662380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CBE55-3419-40A5-237E-6EB7719CC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C0F3-F495-0DBA-D56F-190F4411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Scrum Alliance. (n.d.). The Scrum team. Scrum Alliance. </a:t>
            </a:r>
            <a:r>
              <a:rPr lang="en-US" sz="1600" dirty="0">
                <a:hlinkClick r:id="rId2"/>
              </a:rPr>
              <a:t>https://resources.scrumalliance.org/Article/scrum-team</a:t>
            </a:r>
            <a:endParaRPr lang="en-US" sz="1600" dirty="0"/>
          </a:p>
          <a:p>
            <a:r>
              <a:rPr lang="en-US" sz="1600" dirty="0" err="1"/>
              <a:t>GeeksforGeeks</a:t>
            </a:r>
            <a:r>
              <a:rPr lang="en-US" sz="1600" dirty="0"/>
              <a:t>. (2025, July 23). Agile SDLC (Software Development Life Cycle). </a:t>
            </a:r>
            <a:r>
              <a:rPr lang="en-US" sz="1600" dirty="0" err="1"/>
              <a:t>GeeksforGeeks</a:t>
            </a:r>
            <a:r>
              <a:rPr lang="en-US" sz="1600" dirty="0"/>
              <a:t>. </a:t>
            </a:r>
            <a:r>
              <a:rPr lang="en-US" sz="1600" dirty="0">
                <a:hlinkClick r:id="rId3"/>
              </a:rPr>
              <a:t>https://www.geeksforgeeks.org/software-engineering/agile-sdlc-software-development-life-cycle/</a:t>
            </a:r>
            <a:endParaRPr lang="en-US" sz="1600" dirty="0"/>
          </a:p>
          <a:p>
            <a:r>
              <a:rPr lang="en-US" sz="1600" dirty="0" err="1"/>
              <a:t>GeeksforGeeks</a:t>
            </a:r>
            <a:r>
              <a:rPr lang="en-US" sz="1600" dirty="0"/>
              <a:t>. (2025, September 30). Waterfall model – software engineering. </a:t>
            </a:r>
            <a:r>
              <a:rPr lang="en-US" sz="1600" dirty="0" err="1"/>
              <a:t>GeeksforGeeks</a:t>
            </a:r>
            <a:r>
              <a:rPr lang="en-US" sz="1600" dirty="0"/>
              <a:t>. https://www.geeksforgeeks.org/software-engineering/waterfall-model/</a:t>
            </a:r>
          </a:p>
        </p:txBody>
      </p:sp>
    </p:spTree>
    <p:extLst>
      <p:ext uri="{BB962C8B-B14F-4D97-AF65-F5344CB8AC3E}">
        <p14:creationId xmlns:p14="http://schemas.microsoft.com/office/powerpoint/2010/main" val="190009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604</Words>
  <Application>Microsoft Office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Agile vs. Waterfall</vt:lpstr>
      <vt:lpstr>Scrum-Agile Team Roles</vt:lpstr>
      <vt:lpstr>SDLC in Agile</vt:lpstr>
      <vt:lpstr>Waterfall Development Approach</vt:lpstr>
      <vt:lpstr>Comparing Development Approaches</vt:lpstr>
      <vt:lpstr>Waterfall or Agile?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M</dc:creator>
  <cp:lastModifiedBy>Steven M</cp:lastModifiedBy>
  <cp:revision>1</cp:revision>
  <dcterms:created xsi:type="dcterms:W3CDTF">2025-10-18T15:23:39Z</dcterms:created>
  <dcterms:modified xsi:type="dcterms:W3CDTF">2025-10-18T18:27:58Z</dcterms:modified>
</cp:coreProperties>
</file>